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365760"/>
            <a:ext cx="1828800" cy="1828800"/>
          </a:xfrm>
          <a:prstGeom prst="ellipse">
            <a:avLst/>
          </a:prstGeom>
          <a:solidFill>
            <a:srgbClr val="EB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3108960"/>
            <a:ext cx="1097280" cy="1097280"/>
          </a:xfrm>
          <a:prstGeom prst="ellipse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95360" y="5029200"/>
            <a:ext cx="914400" cy="914400"/>
          </a:xfrm>
          <a:prstGeom prst="ellipse">
            <a:avLst/>
          </a:prstGeom>
          <a:solidFill>
            <a:srgbClr val="D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" y="5303520"/>
            <a:ext cx="914400" cy="914400"/>
          </a:xfrm>
          <a:prstGeom prst="ellipse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6217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1">
                <a:solidFill>
                  <a:srgbClr val="7B61FF"/>
                </a:solidFill>
                <a:latin typeface="Aptos"/>
              </a:rPr>
              <a:t>OPERATING SYSTEMS  • 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85800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3400" b="1">
                <a:solidFill>
                  <a:srgbClr val="1C264A"/>
                </a:solidFill>
                <a:latin typeface="Aptos"/>
              </a:rPr>
              <a:t>LINUX PROCESS
TREE VISUALIZER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576072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0">
                <a:solidFill>
                  <a:srgbClr val="5F6B85"/>
                </a:solidFill>
                <a:latin typeface="Aptos"/>
              </a:rPr>
              <a:t>Explore how Linux processes are created, connected, and organized.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2148840" cy="530352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562856"/>
            <a:ext cx="19659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PROCESS HIERARCHY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286000"/>
            <a:ext cx="0" cy="548640"/>
          </a:xfrm>
          <a:prstGeom prst="line">
            <a:avLst/>
          </a:prstGeom>
          <a:ln w="3175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2834640"/>
            <a:ext cx="1005840" cy="594360"/>
          </a:xfrm>
          <a:prstGeom prst="line">
            <a:avLst/>
          </a:prstGeom>
          <a:ln w="3175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2834640"/>
            <a:ext cx="1005840" cy="594360"/>
          </a:xfrm>
          <a:prstGeom prst="line">
            <a:avLst/>
          </a:prstGeom>
          <a:ln w="3175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680960" y="3977639"/>
            <a:ext cx="457200" cy="640081"/>
          </a:xfrm>
          <a:prstGeom prst="line">
            <a:avLst/>
          </a:prstGeom>
          <a:ln w="25400">
            <a:solidFill>
              <a:srgbClr val="429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38160" y="3977639"/>
            <a:ext cx="457200" cy="640081"/>
          </a:xfrm>
          <a:prstGeom prst="line">
            <a:avLst/>
          </a:prstGeom>
          <a:ln w="25400">
            <a:solidFill>
              <a:srgbClr val="429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784080" y="3977639"/>
            <a:ext cx="365760" cy="640081"/>
          </a:xfrm>
          <a:prstGeom prst="line">
            <a:avLst/>
          </a:prstGeom>
          <a:ln w="25400">
            <a:solidFill>
              <a:srgbClr val="2F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49840" y="3977639"/>
            <a:ext cx="548640" cy="640081"/>
          </a:xfrm>
          <a:prstGeom prst="line">
            <a:avLst/>
          </a:prstGeom>
          <a:ln w="25400">
            <a:solidFill>
              <a:srgbClr val="2F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21040" y="1709928"/>
            <a:ext cx="1645920" cy="566928"/>
          </a:xfrm>
          <a:prstGeom prst="roundRect">
            <a:avLst/>
          </a:prstGeom>
          <a:solidFill>
            <a:srgbClr val="7B61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783080"/>
            <a:ext cx="15361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systemd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057400"/>
            <a:ext cx="15361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0" y="3419856"/>
            <a:ext cx="1417320" cy="566928"/>
          </a:xfrm>
          <a:prstGeom prst="roundRect">
            <a:avLst/>
          </a:prstGeom>
          <a:solidFill>
            <a:srgbClr val="4299E1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84364" y="34930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4364" y="37673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820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1180" y="3419856"/>
            <a:ext cx="1417320" cy="566928"/>
          </a:xfrm>
          <a:prstGeom prst="roundRect">
            <a:avLst/>
          </a:prstGeom>
          <a:solidFill>
            <a:srgbClr val="2FBFA5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96044" y="34930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sshd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6044" y="37673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640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09460" y="4626864"/>
            <a:ext cx="1143000" cy="530352"/>
          </a:xfrm>
          <a:prstGeom prst="roundRect">
            <a:avLst/>
          </a:prstGeom>
          <a:solidFill>
            <a:srgbClr val="E0F0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64324" y="4700016"/>
            <a:ext cx="103327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4324" y="4974336"/>
            <a:ext cx="103327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824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3860" y="4626864"/>
            <a:ext cx="1143000" cy="530352"/>
          </a:xfrm>
          <a:prstGeom prst="roundRect">
            <a:avLst/>
          </a:prstGeom>
          <a:solidFill>
            <a:srgbClr val="EBE6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78724" y="4700016"/>
            <a:ext cx="103327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grep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8724" y="4974336"/>
            <a:ext cx="103327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825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2580" y="4626864"/>
            <a:ext cx="1143000" cy="530352"/>
          </a:xfrm>
          <a:prstGeom prst="roundRect">
            <a:avLst/>
          </a:prstGeom>
          <a:solidFill>
            <a:srgbClr val="DEF8F1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67444" y="4700016"/>
            <a:ext cx="103327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sshd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444" y="4974336"/>
            <a:ext cx="103327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645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26980" y="4626864"/>
            <a:ext cx="1143000" cy="530352"/>
          </a:xfrm>
          <a:prstGeom prst="roundRect">
            <a:avLst/>
          </a:prstGeom>
          <a:solidFill>
            <a:srgbClr val="FFE8DD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81844" y="4700016"/>
            <a:ext cx="103327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shell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1844" y="4974336"/>
            <a:ext cx="103327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646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99632"/>
            <a:ext cx="6400800" cy="6186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en-IN" sz="1100" b="0" dirty="0">
                <a:solidFill>
                  <a:srgbClr val="5F6B85"/>
                </a:solidFill>
                <a:latin typeface="Aptos"/>
              </a:rPr>
              <a:t>P. RENUKA CHOWDARY – 2520030176</a:t>
            </a:r>
          </a:p>
          <a:p>
            <a:r>
              <a:rPr lang="en-IN" sz="1100" dirty="0">
                <a:solidFill>
                  <a:srgbClr val="5F6B85"/>
                </a:solidFill>
                <a:latin typeface="Aptos"/>
              </a:rPr>
              <a:t>P. MANISHA – 2520030054</a:t>
            </a:r>
          </a:p>
          <a:p>
            <a:r>
              <a:rPr lang="en-IN" sz="1100" b="0" dirty="0">
                <a:solidFill>
                  <a:srgbClr val="5F6B85"/>
                </a:solidFill>
                <a:latin typeface="Aptos"/>
              </a:rPr>
              <a:t>K. HEMALATHA - 2520030147 </a:t>
            </a:r>
            <a:endParaRPr sz="1100" b="0" dirty="0">
              <a:solidFill>
                <a:srgbClr val="5F6B8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01 •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What is a Linux process tree?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5836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100" b="1">
                <a:solidFill>
                  <a:srgbClr val="26304C"/>
                </a:solidFill>
                <a:latin typeface="Aptos"/>
              </a:rPr>
              <a:t>A process tree shows parent–child relationships between running processes in Linux.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0584" cy="141732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Parent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Creates or starts another process.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51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2651760"/>
            <a:ext cx="100584" cy="141732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81635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Child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4612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A process started by a parent, often using fork() or a similar mechanism.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651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2651760"/>
            <a:ext cx="100584" cy="141732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81635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PID / PPID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4612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PID identifies a process; PPID identifies its parent.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26280"/>
            <a:ext cx="10744200" cy="1097280"/>
          </a:xfrm>
          <a:prstGeom prst="roundRect">
            <a:avLst/>
          </a:prstGeom>
          <a:solidFill>
            <a:srgbClr val="EB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773168"/>
            <a:ext cx="1014984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1C264A"/>
                </a:solidFill>
                <a:latin typeface="Aptos"/>
              </a:rPr>
              <a:t>Key idea: the tree makes process relationships easier to understand than a flat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02 •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Why visualize processes?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0584" cy="132588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7365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Understand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3659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See which process launched another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206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100584" cy="1325880"/>
          </a:xfrm>
          <a:prstGeom prst="roundRect">
            <a:avLst/>
          </a:prstGeom>
          <a:solidFill>
            <a:srgbClr val="FF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7365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Troubleshoot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73659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Trace a process back to its parent and inspect unexpected children.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1206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0584" cy="132588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502152"/>
            <a:ext cx="47365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Monitor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73659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Identify shells, services, commands, and background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37560"/>
            <a:ext cx="51206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63640" y="3337560"/>
            <a:ext cx="100584" cy="132588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47365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Learn OS 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473659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Connect process creation, scheduling, and termination to a visual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0">
                <a:solidFill>
                  <a:srgbClr val="5F6B85"/>
                </a:solidFill>
                <a:latin typeface="Aptos"/>
              </a:rPr>
              <a:t>Useful for OS labs, system administration, debugging, and learning process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03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600200" cy="1645920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600200" cy="109728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1. 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80360"/>
            <a:ext cx="1371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5F6B85"/>
                </a:solidFill>
                <a:latin typeface="Aptos"/>
              </a:rPr>
              <a:t>Read process data
from /proc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057400"/>
            <a:ext cx="1600200" cy="1645920"/>
          </a:xfrm>
          <a:prstGeom prst="roundRect">
            <a:avLst/>
          </a:prstGeom>
          <a:solidFill>
            <a:srgbClr val="EB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63240" y="2057400"/>
            <a:ext cx="1600200" cy="10972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2395728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2.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880360"/>
            <a:ext cx="1371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5F6B85"/>
                </a:solidFill>
                <a:latin typeface="Aptos"/>
              </a:rPr>
              <a:t>Extract PID, PPID,
name and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057400"/>
            <a:ext cx="1600200" cy="1645920"/>
          </a:xfrm>
          <a:prstGeom prst="roundRect">
            <a:avLst/>
          </a:prstGeom>
          <a:solidFill>
            <a:srgbClr val="D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94960" y="2057400"/>
            <a:ext cx="1600200" cy="109728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2395728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3. Build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880360"/>
            <a:ext cx="1371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5F6B85"/>
                </a:solidFill>
                <a:latin typeface="Aptos"/>
              </a:rPr>
              <a:t>Connect each child
to its parent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057400"/>
            <a:ext cx="1600200" cy="1645920"/>
          </a:xfrm>
          <a:prstGeom prst="roundRect">
            <a:avLst/>
          </a:prstGeom>
          <a:solidFill>
            <a:srgbClr val="FF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26679" y="2057400"/>
            <a:ext cx="1600200" cy="109728"/>
          </a:xfrm>
          <a:prstGeom prst="roundRect">
            <a:avLst/>
          </a:prstGeom>
          <a:solidFill>
            <a:srgbClr val="FF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19" y="2395728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4. Visualize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7" y="2880360"/>
            <a:ext cx="1371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5F6B85"/>
                </a:solidFill>
                <a:latin typeface="Aptos"/>
              </a:rPr>
              <a:t>Render nodes and
parent-child links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057400"/>
            <a:ext cx="1600200" cy="1645920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58400" y="2057400"/>
            <a:ext cx="1600200" cy="109728"/>
          </a:xfrm>
          <a:prstGeom prst="roundRect">
            <a:avLst/>
          </a:prstGeom>
          <a:solidFill>
            <a:srgbClr val="FFC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2395728"/>
            <a:ext cx="1417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5. Refresh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2880360"/>
            <a:ext cx="137160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>
                <a:solidFill>
                  <a:srgbClr val="5F6B85"/>
                </a:solidFill>
                <a:latin typeface="Aptos"/>
              </a:rPr>
              <a:t>Update view as
processes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2633472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7B61FF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633472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7B61FF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633472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7B61FF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2633472"/>
            <a:ext cx="320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7B61F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434840"/>
            <a:ext cx="102412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4645152"/>
            <a:ext cx="96926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700" b="1">
                <a:solidFill>
                  <a:srgbClr val="26304C"/>
                </a:solidFill>
                <a:latin typeface="Aptos"/>
              </a:rPr>
              <a:t>Linux /proc  →  process data  →  parent-child model  →  visual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04 • VISUAL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Example process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2057400"/>
            <a:ext cx="0" cy="548640"/>
          </a:xfrm>
          <a:prstGeom prst="line">
            <a:avLst/>
          </a:prstGeom>
          <a:ln w="31750">
            <a:solidFill>
              <a:srgbClr val="7B6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749039" y="2606040"/>
            <a:ext cx="2331721" cy="548640"/>
          </a:xfrm>
          <a:prstGeom prst="line">
            <a:avLst/>
          </a:prstGeom>
          <a:ln w="25400">
            <a:solidFill>
              <a:srgbClr val="429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2606040"/>
            <a:ext cx="2286000" cy="548640"/>
          </a:xfrm>
          <a:prstGeom prst="line">
            <a:avLst/>
          </a:prstGeom>
          <a:ln w="25400">
            <a:solidFill>
              <a:srgbClr val="2F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468880" y="3703320"/>
            <a:ext cx="1280159" cy="640080"/>
          </a:xfrm>
          <a:prstGeom prst="line">
            <a:avLst/>
          </a:prstGeom>
          <a:ln w="25400">
            <a:solidFill>
              <a:srgbClr val="429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49039" y="3703320"/>
            <a:ext cx="1280161" cy="640080"/>
          </a:xfrm>
          <a:prstGeom prst="line">
            <a:avLst/>
          </a:prstGeom>
          <a:ln w="25400">
            <a:solidFill>
              <a:srgbClr val="429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315200" y="3703320"/>
            <a:ext cx="1051560" cy="640080"/>
          </a:xfrm>
          <a:prstGeom prst="line">
            <a:avLst/>
          </a:prstGeom>
          <a:ln w="25400">
            <a:solidFill>
              <a:srgbClr val="2F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66760" y="3703320"/>
            <a:ext cx="1097280" cy="640080"/>
          </a:xfrm>
          <a:prstGeom prst="line">
            <a:avLst/>
          </a:prstGeom>
          <a:ln w="25400">
            <a:solidFill>
              <a:srgbClr val="2FB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1499616"/>
            <a:ext cx="1920240" cy="566928"/>
          </a:xfrm>
          <a:prstGeom prst="roundRect">
            <a:avLst/>
          </a:prstGeom>
          <a:solidFill>
            <a:srgbClr val="7B61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5504" y="1572768"/>
            <a:ext cx="181051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systemd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847088"/>
            <a:ext cx="181051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59" y="3145536"/>
            <a:ext cx="1737360" cy="566928"/>
          </a:xfrm>
          <a:prstGeom prst="roundRect">
            <a:avLst/>
          </a:prstGeom>
          <a:solidFill>
            <a:srgbClr val="4299E1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35223" y="3218688"/>
            <a:ext cx="162763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Network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3" y="3493008"/>
            <a:ext cx="16276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540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3145536"/>
            <a:ext cx="1737360" cy="566928"/>
          </a:xfrm>
          <a:prstGeom prst="roundRect">
            <a:avLst/>
          </a:prstGeom>
          <a:solidFill>
            <a:srgbClr val="2FBFA5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3218688"/>
            <a:ext cx="1627631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493008"/>
            <a:ext cx="1627631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PID 800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60220" y="4334256"/>
            <a:ext cx="1417320" cy="566928"/>
          </a:xfrm>
          <a:prstGeom prst="roundRect">
            <a:avLst/>
          </a:prstGeom>
          <a:solidFill>
            <a:srgbClr val="E0F0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15084" y="44074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5084" y="46817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542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540" y="4334256"/>
            <a:ext cx="1417320" cy="566928"/>
          </a:xfrm>
          <a:prstGeom prst="roundRect">
            <a:avLst/>
          </a:prstGeom>
          <a:solidFill>
            <a:srgbClr val="EBE6FF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5403" y="44074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logger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5403" y="46817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543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6540" y="4334256"/>
            <a:ext cx="1417320" cy="566928"/>
          </a:xfrm>
          <a:prstGeom prst="roundRect">
            <a:avLst/>
          </a:prstGeom>
          <a:solidFill>
            <a:srgbClr val="DEF8F1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1403" y="44074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bash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1403" y="46817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801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5380" y="4334256"/>
            <a:ext cx="1417320" cy="566928"/>
          </a:xfrm>
          <a:prstGeom prst="roundRect">
            <a:avLst/>
          </a:prstGeom>
          <a:solidFill>
            <a:srgbClr val="FFE8DD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10244" y="4407408"/>
            <a:ext cx="1307592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>
                <a:solidFill>
                  <a:srgbClr val="26304C"/>
                </a:solidFill>
                <a:latin typeface="Aptos"/>
              </a:rP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0244" y="4681728"/>
            <a:ext cx="1307592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0">
                <a:solidFill>
                  <a:srgbClr val="26304C"/>
                </a:solidFill>
                <a:latin typeface="Aptos"/>
              </a:rPr>
              <a:t>PID 802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80"/>
            <a:ext cx="10607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5F6B85"/>
                </a:solidFill>
                <a:latin typeface="Aptos"/>
              </a:rPr>
              <a:t>Illustrative example only — actual PIDs and process names vary by machine and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05 • PRACTICAL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Linux commands behind the visualizer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583680" cy="4069080"/>
          </a:xfrm>
          <a:prstGeom prst="roundRect">
            <a:avLst/>
          </a:prstGeom>
          <a:solidFill>
            <a:srgbClr val="1C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1">
                <a:solidFill>
                  <a:srgbClr val="87E6C7"/>
                </a:solidFill>
                <a:latin typeface="Consolas"/>
              </a:rPr>
              <a:t>$ ps -ef --forest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5760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800" b="1">
                <a:solidFill>
                  <a:srgbClr val="FFCD7D"/>
                </a:solidFill>
                <a:latin typeface="Consolas"/>
              </a:rPr>
              <a:t>$ pstree -p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62656"/>
            <a:ext cx="5760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B9BEFF"/>
                </a:solidFill>
                <a:latin typeface="Consolas"/>
              </a:rPr>
              <a:t>$ cat /proc/&lt;PID&gt;/status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03320"/>
            <a:ext cx="5715000" cy="1417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onsolas"/>
              </a:rPr>
              <a:t>ps -ef --forest  → process list in tree form
pstree -p            → tree with process IDs
/proc/&lt;PID&gt;/status   → PID, PPID and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474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0" y="1737360"/>
            <a:ext cx="100584" cy="118872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901952"/>
            <a:ext cx="30906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Data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331720"/>
            <a:ext cx="3090672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The /proc virtual filesystem exposes live process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246120"/>
            <a:ext cx="3474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0" y="3246120"/>
            <a:ext cx="100584" cy="118872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3410712"/>
            <a:ext cx="309067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840480"/>
            <a:ext cx="3090672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Re-read process data to show newly started or finished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92040"/>
            <a:ext cx="32918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0">
                <a:solidFill>
                  <a:srgbClr val="5F6B85"/>
                </a:solidFill>
                <a:latin typeface="Aptos"/>
              </a:rPr>
              <a:t>Tip: pstree may need installation on some distributions.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06 •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OS concepts demonstrated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10241280" cy="822960"/>
          </a:xfrm>
          <a:prstGeom prst="roundRect">
            <a:avLst/>
          </a:prstGeom>
          <a:solidFill>
            <a:srgbClr val="EB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18872" cy="82296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728216"/>
            <a:ext cx="2560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Process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28216"/>
            <a:ext cx="6858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fork(), exec() and parent-child relationships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10241280" cy="822960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118872" cy="82296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2779776"/>
            <a:ext cx="2560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Process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79776"/>
            <a:ext cx="6858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PID and PPID uniquely describe a process and its parent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03320"/>
            <a:ext cx="10241280" cy="822960"/>
          </a:xfrm>
          <a:prstGeom prst="roundRect">
            <a:avLst/>
          </a:prstGeom>
          <a:solidFill>
            <a:srgbClr val="D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703320"/>
            <a:ext cx="118872" cy="82296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3831335"/>
            <a:ext cx="2560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Process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831335"/>
            <a:ext cx="6858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Running, sleeping, stopped or zombie states may be inspected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54879"/>
            <a:ext cx="10241280" cy="822960"/>
          </a:xfrm>
          <a:prstGeom prst="roundRect">
            <a:avLst/>
          </a:prstGeom>
          <a:solidFill>
            <a:srgbClr val="FF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754879"/>
            <a:ext cx="118872" cy="822960"/>
          </a:xfrm>
          <a:prstGeom prst="roundRect">
            <a:avLst/>
          </a:prstGeom>
          <a:solidFill>
            <a:srgbClr val="FF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882895"/>
            <a:ext cx="2560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Process termination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882895"/>
            <a:ext cx="68580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When a process exits, its relationship to the parent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149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>
                <a:solidFill>
                  <a:srgbClr val="5F6B85"/>
                </a:solidFill>
                <a:latin typeface="Aptos"/>
              </a:rPr>
              <a:t>The visualizer is a learning aid; it does not replace Linux process-control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07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Workflow and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0584" cy="141732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Collect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Read process metadata using available system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100584" cy="141732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1051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Build accurately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Use PPID links and handle processes that exit during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100584" cy="141732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10512"/>
            <a:ext cx="304495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Display clearly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044952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Label nodes with process names and IDs; use lines for relationships.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10744200" cy="1417320"/>
          </a:xfrm>
          <a:prstGeom prst="roundRect">
            <a:avLst/>
          </a:prstGeom>
          <a:solidFill>
            <a:srgbClr val="FFE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39"/>
            <a:ext cx="9966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600" b="1">
                <a:solidFill>
                  <a:srgbClr val="1C264A"/>
                </a:solidFill>
                <a:latin typeface="Aptos"/>
              </a:rPr>
              <a:t>Important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60520"/>
            <a:ext cx="99669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Process data changes continuously; permissions can hide details, and PID reuse or short-lived processes can affect a snapshot.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744200" cy="640080"/>
          </a:xfrm>
          <a:prstGeom prst="roundRect">
            <a:avLst/>
          </a:prstGeom>
          <a:solidFill>
            <a:srgbClr val="EB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413248"/>
            <a:ext cx="10287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>
                <a:solidFill>
                  <a:srgbClr val="1C264A"/>
                </a:solidFill>
                <a:latin typeface="Aptos"/>
              </a:rPr>
              <a:t>Good design = periodic refresh + clear parent-child links + graceful handling of missing processes.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5156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100" b="1">
                <a:solidFill>
                  <a:srgbClr val="7B61FF"/>
                </a:solidFill>
                <a:latin typeface="Aptos"/>
              </a:rPr>
              <a:t>08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3200" b="1">
                <a:solidFill>
                  <a:srgbClr val="1C264A"/>
                </a:solidFill>
                <a:latin typeface="Aptos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105613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95728"/>
            <a:ext cx="98755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900" b="1">
                <a:solidFill>
                  <a:srgbClr val="26304C"/>
                </a:solidFill>
                <a:latin typeface="Aptos"/>
              </a:rPr>
              <a:t>A Linux Process Tree Visualizer turns process metadata into an easy-to-read hierarchy.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100584" cy="114300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822191"/>
            <a:ext cx="26791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Makes relationships clear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2679192" cy="4297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Parent and child processes are visible at a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657600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100584" cy="114300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3822191"/>
            <a:ext cx="26791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Supports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251960"/>
            <a:ext cx="2679192" cy="4297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Connects Linux commands to core OS concepts.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0632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3657600"/>
            <a:ext cx="100584" cy="1143000"/>
          </a:xfrm>
          <a:prstGeom prst="roundRect">
            <a:avLst/>
          </a:prstGeom>
          <a:solidFill>
            <a:srgbClr val="2F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3822191"/>
            <a:ext cx="2679192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700" b="1">
                <a:solidFill>
                  <a:srgbClr val="1C264A"/>
                </a:solidFill>
                <a:latin typeface="Aptos"/>
              </a:rPr>
              <a:t>Helps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251960"/>
            <a:ext cx="2679192" cy="4297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300" b="0">
                <a:solidFill>
                  <a:srgbClr val="5F6B85"/>
                </a:solidFill>
                <a:latin typeface="Aptos"/>
              </a:rPr>
              <a:t>Useful for monitoring and basic troubleshooting.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7B61FF"/>
                </a:solidFill>
                <a:latin typeface="Aptos"/>
              </a:rPr>
              <a:t>Thank you!   •   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772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000" b="1">
                <a:solidFill>
                  <a:srgbClr val="7B61FF"/>
                </a:solidFill>
                <a:latin typeface="Aptos"/>
              </a:rPr>
              <a:t>09 •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2800" b="1">
                <a:solidFill>
                  <a:srgbClr val="1C264A"/>
                </a:solidFill>
                <a:latin typeface="Aptos"/>
              </a:rPr>
              <a:t>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61872"/>
            <a:ext cx="960120" cy="6400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5F6B8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Linux manual page: 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6126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7B61FF"/>
                </a:solidFill>
                <a:latin typeface="Aptos"/>
              </a:rPr>
              <a:t>https://man7.org/linux/man-pages/man1/ps.1.html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1460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Linux manual page: proc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6126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7B61FF"/>
                </a:solidFill>
                <a:latin typeface="Aptos"/>
              </a:rPr>
              <a:t>https://man7.org/linux/man-pages/man5/proc.5.html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Linux manual page: pstree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6126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7B61FF"/>
                </a:solidFill>
                <a:latin typeface="Aptos"/>
              </a:rPr>
              <a:t>https://man7.org/linux/man-pages/man1/pstree.1.html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59"/>
            <a:ext cx="102412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389120"/>
            <a:ext cx="365760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500" b="1">
                <a:solidFill>
                  <a:srgbClr val="1C264A"/>
                </a:solidFill>
                <a:latin typeface="Aptos"/>
              </a:rPr>
              <a:t>Linux manual page: fork(2)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89120"/>
            <a:ext cx="6126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1200" b="0">
                <a:solidFill>
                  <a:srgbClr val="7B61FF"/>
                </a:solidFill>
                <a:latin typeface="Aptos"/>
              </a:rPr>
              <a:t>https://man7.org/linux/man-pages/man2/fork.2.html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1498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0">
                <a:solidFill>
                  <a:srgbClr val="5F6B85"/>
                </a:solidFill>
                <a:latin typeface="Aptos"/>
              </a:rPr>
              <a:t>Prepared for Operating Systems (OS) subject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746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RENUKA CHOWDARY PARA</dc:creator>
  <cp:keywords/>
  <dc:description>generated using python-pptx</dc:description>
  <cp:lastModifiedBy>RENUKA CHOWDARY PARA</cp:lastModifiedBy>
  <cp:revision>2</cp:revision>
  <dcterms:created xsi:type="dcterms:W3CDTF">2013-01-27T09:14:16Z</dcterms:created>
  <dcterms:modified xsi:type="dcterms:W3CDTF">2026-10-16T07:41:34Z</dcterms:modified>
  <cp:category/>
</cp:coreProperties>
</file>